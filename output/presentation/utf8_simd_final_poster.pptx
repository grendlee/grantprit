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6f18d362a242da" /><Relationship Type="http://schemas.openxmlformats.org/officeDocument/2006/relationships/extended-properties" Target="/docProps/app.xml" Id="Rf914ebba8a1b4c21" /><Relationship Type="http://schemas.openxmlformats.org/officeDocument/2006/relationships/officeDocument" Target="/ppt/presentation.xml" Id="Rac525a6967e7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270a205834441"/>
  </p:sldMasterIdLst>
  <p:notesMasterIdLst>
    <p:notesMasterId xmlns:r="http://schemas.openxmlformats.org/officeDocument/2006/relationships" r:id="Ref1e18fcdc974cc5"/>
  </p:notesMasterIdLst>
  <p:sldIdLst>
    <p:sldId xmlns:r="http://schemas.openxmlformats.org/officeDocument/2006/relationships" id="256" r:id="R16b2f9bc04534b84"/>
    <p:sldId xmlns:r="http://schemas.openxmlformats.org/officeDocument/2006/relationships" id="257" r:id="R776ca1f33f5b43fe"/>
    <p:sldId xmlns:r="http://schemas.openxmlformats.org/officeDocument/2006/relationships" id="258" r:id="Ra90a9a94f039421d"/>
    <p:sldId xmlns:r="http://schemas.openxmlformats.org/officeDocument/2006/relationships" id="259" r:id="R980066f324024922"/>
    <p:sldId xmlns:r="http://schemas.openxmlformats.org/officeDocument/2006/relationships" id="260" r:id="Rca75082a05f74425"/>
    <p:sldId xmlns:r="http://schemas.openxmlformats.org/officeDocument/2006/relationships" id="261" r:id="R6a850333ad744575"/>
    <p:sldId xmlns:r="http://schemas.openxmlformats.org/officeDocument/2006/relationships" id="262" r:id="Reb3d322bd6684924"/>
    <p:sldId xmlns:r="http://schemas.openxmlformats.org/officeDocument/2006/relationships" id="263" r:id="R05a581988ff041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ed8f5891364e8a" /><Relationship Type="http://schemas.openxmlformats.org/officeDocument/2006/relationships/slideMaster" Target="/ppt/slideMasters/slideMaster1.xml" Id="R9fc270a205834441" /><Relationship Type="http://schemas.openxmlformats.org/officeDocument/2006/relationships/notesMaster" Target="/ppt/notesMasters/notesMaster1.xml" Id="Ref1e18fcdc974cc5" /><Relationship Type="http://schemas.openxmlformats.org/officeDocument/2006/relationships/presProps" Target="/ppt/presProps.xml" Id="Rf1e3fe4d7984458f" /><Relationship Type="http://schemas.openxmlformats.org/officeDocument/2006/relationships/tableStyles" Target="/ppt/tableStyles.xml" Id="R58d2e17f590c4017" /><Relationship Type="http://schemas.openxmlformats.org/officeDocument/2006/relationships/slide" Target="/ppt/slides/slide1.xml" Id="R16b2f9bc04534b84" /><Relationship Type="http://schemas.openxmlformats.org/officeDocument/2006/relationships/slide" Target="/ppt/slides/slide2.xml" Id="R776ca1f33f5b43fe" /><Relationship Type="http://schemas.openxmlformats.org/officeDocument/2006/relationships/slide" Target="/ppt/slides/slide3.xml" Id="Ra90a9a94f039421d" /><Relationship Type="http://schemas.openxmlformats.org/officeDocument/2006/relationships/slide" Target="/ppt/slides/slide4.xml" Id="R980066f324024922" /><Relationship Type="http://schemas.openxmlformats.org/officeDocument/2006/relationships/slide" Target="/ppt/slides/slide5.xml" Id="Rca75082a05f74425" /><Relationship Type="http://schemas.openxmlformats.org/officeDocument/2006/relationships/slide" Target="/ppt/slides/slide6.xml" Id="R6a850333ad744575" /><Relationship Type="http://schemas.openxmlformats.org/officeDocument/2006/relationships/slide" Target="/ppt/slides/slide7.xml" Id="Reb3d322bd6684924" /><Relationship Type="http://schemas.openxmlformats.org/officeDocument/2006/relationships/slide" Target="/ppt/slides/slide8.xml" Id="R05a581988ff0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7643a1e7e41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5049fd475c4016" /><Relationship Type="http://schemas.openxmlformats.org/officeDocument/2006/relationships/notesMaster" Target="/ppt/notesMasters/notesMaster1.xml" Id="R3a005938346e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3b820004574868" /><Relationship Type="http://schemas.openxmlformats.org/officeDocument/2006/relationships/notesMaster" Target="/ppt/notesMasters/notesMaster1.xml" Id="Re1d2fdc4d96644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dcedc8a604190" /><Relationship Type="http://schemas.openxmlformats.org/officeDocument/2006/relationships/notesMaster" Target="/ppt/notesMasters/notesMaster1.xml" Id="Rfb124c786d6446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4c3771d8b4112" /><Relationship Type="http://schemas.openxmlformats.org/officeDocument/2006/relationships/notesMaster" Target="/ppt/notesMasters/notesMaster1.xml" Id="R6806ade56f9f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8b5a99a18a4135" /><Relationship Type="http://schemas.openxmlformats.org/officeDocument/2006/relationships/notesMaster" Target="/ppt/notesMasters/notesMaster1.xml" Id="Rcad7b071ad7648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0ed4ea7b5444ec" /><Relationship Type="http://schemas.openxmlformats.org/officeDocument/2006/relationships/notesMaster" Target="/ppt/notesMasters/notesMaster1.xml" Id="R176c772f944448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9086aa98c6469f" /><Relationship Type="http://schemas.openxmlformats.org/officeDocument/2006/relationships/notesMaster" Target="/ppt/notesMasters/notesMaster1.xml" Id="Rfe8f0fd47895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d6ae94ae744c6" /><Relationship Type="http://schemas.openxmlformats.org/officeDocument/2006/relationships/notesMaster" Target="/ppt/notesMasters/notesMaster1.xml" Id="Rb50383aa4a06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compiler question: can target-independent abstractions preserve the value of a hand-tuned SIMD algorithm?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https://github.com/Grendlee/GrantPrit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vector lanes do not remove dependencies: leaders create required positions that can cross blocks and EOF.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Unicode Standard Chapter 3, Table 3-7: https://www.unicode.org/versions/latest/ch03.pdf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scalar decoder is an oracle, not the main SIMD comparison. The two Parabix paths differ in representation and compiler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Keiser &amp; Lemire: https://arxiv.org/abs/2010.03090; repository: https://github.com/Grendlee/GrantPrit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what the compiler sees: generic lane operations in the direct path versus boolean stream algebra in Pablo.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Update2Work/utf8_validation_kernel.cpp and Update2Work/utf8_pablo_validation_kernel.cpp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why ordinary short truncated tests were insufficient. Exact B, 2B, and 3B lengths are distinct semantic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Professor feedback supplied by the user; reproduced by Update2Work/tests/run_utf8_validation_tests.py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the result precisely. Agreement is across four configured SIMD widths, not just the machine default.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Update2Work/tests/run_utf8_validation_tests.py; verified run on August 3,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Groupmate owns the measurements and plots. Separate JIT/setup and file I/O from steady-state validation; validate outputs before accepting timings.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Update2Work/BENCHMARK_HANDOFF.md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question: the abstractions are expressive and correct; the benchmark will determine their performance cost relative to hand-written SIMD.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project implementation and test suite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2caa81459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f24f9899f4b2d" /><Relationship Type="http://schemas.openxmlformats.org/officeDocument/2006/relationships/slideLayout" Target="/ppt/slideLayouts/slideLayout1.xml" Id="R71537b68af5347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37b68af5347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ce29b721d4beb" /><Relationship Type="http://schemas.openxmlformats.org/officeDocument/2006/relationships/notesSlide" Target="/ppt/notesSlides/notesSlide1.xml" Id="R6d3ec31047c94f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ec8956e8d4841" /><Relationship Type="http://schemas.openxmlformats.org/officeDocument/2006/relationships/notesSlide" Target="/ppt/notesSlides/notesSlide2.xml" Id="R5a5dc3d80711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3c795e3784bd2" /><Relationship Type="http://schemas.openxmlformats.org/officeDocument/2006/relationships/notesSlide" Target="/ppt/notesSlides/notesSlide3.xml" Id="R0998665bea7d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1193045e74153" /><Relationship Type="http://schemas.openxmlformats.org/officeDocument/2006/relationships/notesSlide" Target="/ppt/notesSlides/notesSlide4.xml" Id="R825ea1541342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ef97bd37f4dab" /><Relationship Type="http://schemas.openxmlformats.org/officeDocument/2006/relationships/notesSlide" Target="/ppt/notesSlides/notesSlide5.xml" Id="R5d91253b013246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cd67eb80e48e8" /><Relationship Type="http://schemas.openxmlformats.org/officeDocument/2006/relationships/notesSlide" Target="/ppt/notesSlides/notesSlide6.xml" Id="Rc72d22f1ab58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3bd9f8e764d41" /><Relationship Type="http://schemas.openxmlformats.org/officeDocument/2006/relationships/notesSlide" Target="/ppt/notesSlides/notesSlide7.xml" Id="Re319d8de4e7840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4444c74a440f3" /><Relationship Type="http://schemas.openxmlformats.org/officeDocument/2006/relationships/notesSlide" Target="/ppt/notesSlides/notesSlide8.xml" Id="Rae2a2ea3d7e64d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011E5D5-A357-4CB7-B29A-0D15829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UTF-8 validation
without processor lock-in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2982D39-E756-4457-86D7-711A843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Parabix expressions · exact-boundary correctness · performance study
[Team member names] · August 5,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43D00AF-1BEE-4D0B-B71C-012D9617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CMPT 980 · SIMD Application Study</a:t>
            </a:r>
          </a:p>
        </p:txBody>
      </p:sp>
    </p:spTree>
    <p:extLst>
      <p:ext uri="{BB962C8B-B14F-4D97-AF65-F5344CB8AC3E}">
        <p14:creationId xmlns:p14="http://schemas.microsoft.com/office/powerpoint/2010/main" val="19176058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E7F5A27-F666-46AB-A7FE-54512392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84606F1-C82B-46C3-9D11-FF273B92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UTF-8 is locally encoded—but globally stateful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1FDB874-DAF7-4930-899C-12F03B2D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ASCII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00–7F stands alone. It is the fast path for most English text.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27C3A1-3C61-4362-A4B7-6A8844B2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Continuation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80–BF is legal only where a prior leader created scope.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EDD253A-E711-4078-997A-258BF6F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Leaders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C2–DF, E0–EF, and F0–F4 require one, two, or three following bytes.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2738865-4787-402E-9E5B-A13948CC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Narrow ranges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E0, ED, F0, and F4 constrain byte two to prevent overlong, surrogate, or out-of-range values.</a:t>
            </a:r>
          </a:p>
        </p:txBody>
      </p:sp>
    </p:spTree>
    <p:extLst>
      <p:ext uri="{BB962C8B-B14F-4D97-AF65-F5344CB8AC3E}">
        <p14:creationId xmlns:p14="http://schemas.microsoft.com/office/powerpoint/2010/main" val="14343495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F4E6473-AB6E-422E-B589-64B9FE35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DFA7400-37DA-4066-A0BA-83F1155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implementations isolate the compiler trade-off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29F521A-646E-40C5-BF66-F20F61E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 IDISA
Packed byte lanes
comparisons · dslli · XOR · popcount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4B2E0D1-C127-4D3E-824A-36F2462E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PABLO / u8u16
Basis bit streams
character classes · Advance · AtEOF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93B4E8F0-9473-41D9-A8A2-EC1A6F33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KEISER–LEMIRE
Native SIMD vectors
lookup/shuffle-oriented hand-written code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A6327874-42D5-4456-814A-5B0C5E7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A15CC54-7897-4452-A6F7-38A5C69D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87BB8D51-9394-4071-918C-AF2A3B13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8035739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EFB35A7-535E-4846-BE1A-FF8FA8C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E7F80B3-3DF1-461C-AB23-55CC331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UTF-8 rule becomes two compiler-facing programs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03F9B6E-07F5-483A-94CE-CF196A8D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 bytes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previous vector block. Align bytes at distances 1/2/3. XOR expected continuation lanes with actual 80–BF lanes. Add narrow range masks. Reduce error lanes.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D688822-757C-4F31-99A4-6AEB5F2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Pablo scopes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Transpose bytes into eight basis streams. Compile byte classes. Advance leaders into scope22/32/33/42/43/44. XOR scope with suffixes. Mark outstanding scope at EOF.</a:t>
            </a:r>
          </a:p>
        </p:txBody>
      </p:sp>
    </p:spTree>
    <p:extLst>
      <p:ext uri="{BB962C8B-B14F-4D97-AF65-F5344CB8AC3E}">
        <p14:creationId xmlns:p14="http://schemas.microsoft.com/office/powerpoint/2010/main" val="1924824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AA41464-2AA5-440A-878A-17EA49F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8EE1695-D47F-4237-A2C2-9C4CD482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block boundaries exposed a real correctness gap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4D4390C-2728-4F12-B5C9-9E43282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behavior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… 41 41 E2 | EOF
A partial block supplied zeros and often exposed missing suffixes. At an exact multiple, no following padded block was guaranteed. The unfinished leader could be accepted.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1017DDA-29E4-4EC8-9C4C-E8FD1432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behavior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direct state across blocks.
Add a direct-byte EOF guard.
Count Add1 error streams correctly.
AtEOF(outstanding scope) makes termination part of validation.</a:t>
            </a:r>
          </a:p>
        </p:txBody>
      </p:sp>
    </p:spTree>
    <p:extLst>
      <p:ext uri="{BB962C8B-B14F-4D97-AF65-F5344CB8AC3E}">
        <p14:creationId xmlns:p14="http://schemas.microsoft.com/office/powerpoint/2010/main" val="1224414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5F578-5A4C-444D-9E23-9D9F76B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4014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Both compiler-generated validators agree with the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5B3DC-8F73-4997-9B50-9D68B79F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4014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124 generated cases per width · malformed ranges · crossing sequences · B±3 · exact B/2B/3B truncation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93C0F-FD0F-427F-815F-74A5FF57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Oracle /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AA79D-9E0F-47A8-A87B-F2E037ED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431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64-bit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13B47-59BD-47F9-95F3-60790D99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128-bit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D57BD-ECBE-4DBB-92CB-DC8DD44B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431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256-bit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BB815-C6F0-4E0C-BD93-2855CCA9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431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512-bit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5FE89-4CAF-428E-B7EC-E46AA74C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431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521CA-0E5F-4BCE-A2D4-EA4B0573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717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24F"/>
                </a:solidFill>
              </a:defRPr>
            </a:pPr>
            <a:r>
              <a:rPr sz="1425" b="0">
                <a:solidFill>
                  <a:srgbClr val="16324F"/>
                </a:solidFill>
              </a:rPr>
              <a:t>Python strict UTF-8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23861-220D-438C-B843-015D91F0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717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91430-EC39-4A10-A580-AB5443D7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717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AFF4B-B642-44E4-B9C4-6AEC6430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717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F4DD9-E0A2-4FBA-A25B-10CEBC93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717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4400C-EAF4-4ED9-B66A-F8BE063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717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496/496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37370-E743-4072-94BF-E5DCBA0B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24F"/>
                </a:solidFill>
              </a:defRPr>
            </a:pPr>
            <a:r>
              <a:rPr sz="1425" b="0">
                <a:solidFill>
                  <a:srgbClr val="16324F"/>
                </a:solidFill>
              </a:rPr>
              <a:t>Direct IDISA + EOF guard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83D54-069D-4256-B7C5-6594F6A3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0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78CAD-74D5-41BA-B7C5-7CF3F9F3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0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847BA-2535-415D-BF1D-416AFE5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0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5D115-9592-47EF-AEE3-2C2C1B31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0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6242F-197B-4EDC-A15D-74607B0D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0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496/496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7CCC0-355F-4C5F-A676-9BAA0D32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24F"/>
                </a:solidFill>
              </a:defRPr>
            </a:pPr>
            <a:r>
              <a:rPr sz="1425" b="0">
                <a:solidFill>
                  <a:srgbClr val="16324F"/>
                </a:solidFill>
              </a:rPr>
              <a:t>Pablo validation-only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25F0E-AD82-415F-B9AD-792C072C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290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7F183-1638-4FAB-A0F5-1F44359C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290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83CE8-448B-4A26-8E46-376F1C13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290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9625B-8D7A-4DD0-8436-A7565B25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124/124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24E42-569A-42A3-A51C-E63CA3C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2907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B7C7C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496/496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EAB3B-308A-48D6-B4FB-5EABA83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087E8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496 / 496 cases passed</a:t>
            </a:r>
          </a:p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Direct · Pablo · independent strict decoder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2B258-7478-4FC3-8758-A6A0C668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/>
            </a:pPr>
            <a:r>
              <a:rPr sz="975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374069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074E527-2948-4C3F-9A36-EFF640BA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CA428CD-C02E-478A-A6F4-272EAC5A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622A061-5F85-4E5B-850A-42CC4BA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BE39797-E009-462B-A632-1549D857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49B00D9-792D-4FE6-B35C-67D450B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Performance evidence is the remaining group checkpoint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03425E5-7671-4821-A630-88E1E309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measured trials
after warmup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BC3ED67-CFC6-48AF-86D0-8F1ED061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median throughput
and variability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3C7B6EF-C1EE-46DD-951F-CC23F261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threads, capped
at physical cores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B62C7A0-DADF-4615-9E3D-8EE13CC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10+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B86EC4C-FDA1-4A08-B852-A897B07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· 2 · 4 · 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3B214AE-C3A6-4CDE-94CF-829E260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GB/s + IQR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51F4696-ED09-4AEF-AF8D-72135BAB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 not fill this slide with invented throughput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groupmate must insert the verified single-thread chart and 1/2/4/8-thread scaling chart from raw CSV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609326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EFBC3B6-B22C-4F31-8FE5-E97CD998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EOF belongs in the algorithm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7505187-D33B-4043-905A-91A9E92D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Portable SIMD works.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Boundaries are semantic.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Next: benchmark codegen.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D0DAD4A-0BEE-46F0-A6EF-863B20B6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WE LEARNED</a:t>
            </a:r>
          </a:p>
        </p:txBody>
      </p:sp>
    </p:spTree>
    <p:extLst>
      <p:ext uri="{BB962C8B-B14F-4D97-AF65-F5344CB8AC3E}">
        <p14:creationId xmlns:p14="http://schemas.microsoft.com/office/powerpoint/2010/main" val="90322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2026-08-04T02:37:27.5470000Z</dcterms:created>
  <dcterms:modified xsi:type="dcterms:W3CDTF">2026-08-04T02:37:27.5470000Z</dcterms:modified>
</coreProperties>
</file>